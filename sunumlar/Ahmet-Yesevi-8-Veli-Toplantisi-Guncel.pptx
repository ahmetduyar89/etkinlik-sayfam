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6af970e308406b" /><Relationship Type="http://schemas.openxmlformats.org/officeDocument/2006/relationships/extended-properties" Target="/docProps/app.xml" Id="R6479507d65ba4578" /><Relationship Type="http://schemas.openxmlformats.org/officeDocument/2006/relationships/officeDocument" Target="/ppt/presentation.xml" Id="R48a75faf6d1946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5a182e633b41ce"/>
  </p:sldMasterIdLst>
  <p:notesMasterIdLst>
    <p:notesMasterId xmlns:r="http://schemas.openxmlformats.org/officeDocument/2006/relationships" r:id="R4ea82c3911b741fb"/>
  </p:notesMasterIdLst>
  <p:sldIdLst>
    <p:sldId xmlns:r="http://schemas.openxmlformats.org/officeDocument/2006/relationships" id="256" r:id="R5365bcbf550b44e0"/>
    <p:sldId xmlns:r="http://schemas.openxmlformats.org/officeDocument/2006/relationships" id="257" r:id="Re05880ab21ac45a5"/>
    <p:sldId xmlns:r="http://schemas.openxmlformats.org/officeDocument/2006/relationships" id="258" r:id="R127479fbfad54b90"/>
    <p:sldId xmlns:r="http://schemas.openxmlformats.org/officeDocument/2006/relationships" id="259" r:id="Rb5ddedd90e1544e7"/>
    <p:sldId xmlns:r="http://schemas.openxmlformats.org/officeDocument/2006/relationships" id="260" r:id="R0907a697b41241fb"/>
    <p:sldId xmlns:r="http://schemas.openxmlformats.org/officeDocument/2006/relationships" id="261" r:id="R7769a7be796f4927"/>
    <p:sldId xmlns:r="http://schemas.openxmlformats.org/officeDocument/2006/relationships" id="262" r:id="Rc66ba317aad34cac"/>
    <p:sldId xmlns:r="http://schemas.openxmlformats.org/officeDocument/2006/relationships" id="263" r:id="Rbae7031c482e4e43"/>
    <p:sldId xmlns:r="http://schemas.openxmlformats.org/officeDocument/2006/relationships" id="264" r:id="Rf75e144e03a8497c"/>
    <p:sldId xmlns:r="http://schemas.openxmlformats.org/officeDocument/2006/relationships" id="265" r:id="R104cf434d2eb456c"/>
    <p:sldId xmlns:r="http://schemas.openxmlformats.org/officeDocument/2006/relationships" id="266" r:id="R12aeeb7a3450445a"/>
    <p:sldId xmlns:r="http://schemas.openxmlformats.org/officeDocument/2006/relationships" id="267" r:id="R353809ebb4f54f34"/>
    <p:sldId xmlns:r="http://schemas.openxmlformats.org/officeDocument/2006/relationships" id="268" r:id="R81dfe75b99f349be"/>
    <p:sldId xmlns:r="http://schemas.openxmlformats.org/officeDocument/2006/relationships" id="269" r:id="R201a9987befb4159"/>
    <p:sldId xmlns:r="http://schemas.openxmlformats.org/officeDocument/2006/relationships" id="270" r:id="Re9fae91fe2024ffe"/>
    <p:sldId xmlns:r="http://schemas.openxmlformats.org/officeDocument/2006/relationships" id="271" r:id="R6b113401da714adc"/>
    <p:sldId xmlns:r="http://schemas.openxmlformats.org/officeDocument/2006/relationships" id="272" r:id="Rb69d5be6a62a4d2c"/>
    <p:sldId xmlns:r="http://schemas.openxmlformats.org/officeDocument/2006/relationships" id="273" r:id="R5da864a5c1b840e5"/>
    <p:sldId xmlns:r="http://schemas.openxmlformats.org/officeDocument/2006/relationships" id="274" r:id="R00038e64c8864590"/>
    <p:sldId xmlns:r="http://schemas.openxmlformats.org/officeDocument/2006/relationships" id="275" r:id="R0011fd4624614ccb"/>
    <p:sldId xmlns:r="http://schemas.openxmlformats.org/officeDocument/2006/relationships" id="276" r:id="R3e4e28971bc14231"/>
    <p:sldId xmlns:r="http://schemas.openxmlformats.org/officeDocument/2006/relationships" id="277" r:id="Rf083b831c6ae47ca"/>
    <p:sldId xmlns:r="http://schemas.openxmlformats.org/officeDocument/2006/relationships" id="278" r:id="R0de295f917d548ef"/>
    <p:sldId xmlns:r="http://schemas.openxmlformats.org/officeDocument/2006/relationships" id="279" r:id="R63c2ef481b4d4414"/>
    <p:sldId xmlns:r="http://schemas.openxmlformats.org/officeDocument/2006/relationships" id="280" r:id="R2c0c29f5ca4b4de8"/>
    <p:sldId xmlns:r="http://schemas.openxmlformats.org/officeDocument/2006/relationships" id="281" r:id="R5f9c5498eebd4d8e"/>
    <p:sldId xmlns:r="http://schemas.openxmlformats.org/officeDocument/2006/relationships" id="282" r:id="Rc61225ef678644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2802befa3042d9" /><Relationship Type="http://schemas.openxmlformats.org/officeDocument/2006/relationships/slideMaster" Target="/ppt/slideMasters/slideMaster1.xml" Id="Rb05a182e633b41ce" /><Relationship Type="http://schemas.openxmlformats.org/officeDocument/2006/relationships/notesMaster" Target="/ppt/notesMasters/notesMaster1.xml" Id="R4ea82c3911b741fb" /><Relationship Type="http://schemas.openxmlformats.org/officeDocument/2006/relationships/presProps" Target="/ppt/presProps.xml" Id="R2c16baa2ad104d7f" /><Relationship Type="http://schemas.openxmlformats.org/officeDocument/2006/relationships/tableStyles" Target="/ppt/tableStyles.xml" Id="R974e5b8f29d84c97" /><Relationship Type="http://schemas.openxmlformats.org/officeDocument/2006/relationships/slide" Target="/ppt/slides/slide1.xml" Id="R5365bcbf550b44e0" /><Relationship Type="http://schemas.openxmlformats.org/officeDocument/2006/relationships/slide" Target="/ppt/slides/slide2.xml" Id="Re05880ab21ac45a5" /><Relationship Type="http://schemas.openxmlformats.org/officeDocument/2006/relationships/slide" Target="/ppt/slides/slide3.xml" Id="R127479fbfad54b90" /><Relationship Type="http://schemas.openxmlformats.org/officeDocument/2006/relationships/slide" Target="/ppt/slides/slide4.xml" Id="Rb5ddedd90e1544e7" /><Relationship Type="http://schemas.openxmlformats.org/officeDocument/2006/relationships/slide" Target="/ppt/slides/slide5.xml" Id="R0907a697b41241fb" /><Relationship Type="http://schemas.openxmlformats.org/officeDocument/2006/relationships/slide" Target="/ppt/slides/slide6.xml" Id="R7769a7be796f4927" /><Relationship Type="http://schemas.openxmlformats.org/officeDocument/2006/relationships/slide" Target="/ppt/slides/slide7.xml" Id="Rc66ba317aad34cac" /><Relationship Type="http://schemas.openxmlformats.org/officeDocument/2006/relationships/slide" Target="/ppt/slides/slide8.xml" Id="Rbae7031c482e4e43" /><Relationship Type="http://schemas.openxmlformats.org/officeDocument/2006/relationships/slide" Target="/ppt/slides/slide9.xml" Id="Rf75e144e03a8497c" /><Relationship Type="http://schemas.openxmlformats.org/officeDocument/2006/relationships/slide" Target="/ppt/slides/slide10.xml" Id="R104cf434d2eb456c" /><Relationship Type="http://schemas.openxmlformats.org/officeDocument/2006/relationships/slide" Target="/ppt/slides/slide11.xml" Id="R12aeeb7a3450445a" /><Relationship Type="http://schemas.openxmlformats.org/officeDocument/2006/relationships/slide" Target="/ppt/slides/slide12.xml" Id="R353809ebb4f54f34" /><Relationship Type="http://schemas.openxmlformats.org/officeDocument/2006/relationships/slide" Target="/ppt/slides/slide13.xml" Id="R81dfe75b99f349be" /><Relationship Type="http://schemas.openxmlformats.org/officeDocument/2006/relationships/slide" Target="/ppt/slides/slide14.xml" Id="R201a9987befb4159" /><Relationship Type="http://schemas.openxmlformats.org/officeDocument/2006/relationships/slide" Target="/ppt/slides/slide15.xml" Id="Re9fae91fe2024ffe" /><Relationship Type="http://schemas.openxmlformats.org/officeDocument/2006/relationships/slide" Target="/ppt/slides/slide16.xml" Id="R6b113401da714adc" /><Relationship Type="http://schemas.openxmlformats.org/officeDocument/2006/relationships/slide" Target="/ppt/slides/slide17.xml" Id="Rb69d5be6a62a4d2c" /><Relationship Type="http://schemas.openxmlformats.org/officeDocument/2006/relationships/slide" Target="/ppt/slides/slide18.xml" Id="R5da864a5c1b840e5" /><Relationship Type="http://schemas.openxmlformats.org/officeDocument/2006/relationships/slide" Target="/ppt/slides/slide19.xml" Id="R00038e64c8864590" /><Relationship Type="http://schemas.openxmlformats.org/officeDocument/2006/relationships/slide" Target="/ppt/slides/slide20.xml" Id="R0011fd4624614ccb" /><Relationship Type="http://schemas.openxmlformats.org/officeDocument/2006/relationships/slide" Target="/ppt/slides/slide21.xml" Id="R3e4e28971bc14231" /><Relationship Type="http://schemas.openxmlformats.org/officeDocument/2006/relationships/slide" Target="/ppt/slides/slide22.xml" Id="Rf083b831c6ae47ca" /><Relationship Type="http://schemas.openxmlformats.org/officeDocument/2006/relationships/slide" Target="/ppt/slides/slide23.xml" Id="R0de295f917d548ef" /><Relationship Type="http://schemas.openxmlformats.org/officeDocument/2006/relationships/slide" Target="/ppt/slides/slide24.xml" Id="R63c2ef481b4d4414" /><Relationship Type="http://schemas.openxmlformats.org/officeDocument/2006/relationships/slide" Target="/ppt/slides/slide25.xml" Id="R2c0c29f5ca4b4de8" /><Relationship Type="http://schemas.openxmlformats.org/officeDocument/2006/relationships/slide" Target="/ppt/slides/slide26.xml" Id="R5f9c5498eebd4d8e" /><Relationship Type="http://schemas.openxmlformats.org/officeDocument/2006/relationships/slide" Target="/ppt/slides/slide27.xml" Id="Rc61225ef678644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fa490dd80449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29204fe1304b36" /><Relationship Type="http://schemas.openxmlformats.org/officeDocument/2006/relationships/notesMaster" Target="/ppt/notesMasters/notesMaster1.xml" Id="Re6329012ada445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495a8680c545bf" /><Relationship Type="http://schemas.openxmlformats.org/officeDocument/2006/relationships/notesMaster" Target="/ppt/notesMasters/notesMaster1.xml" Id="Rbc0412a5677040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12b0d446794c12" /><Relationship Type="http://schemas.openxmlformats.org/officeDocument/2006/relationships/notesMaster" Target="/ppt/notesMasters/notesMaster1.xml" Id="R6ef88cbd247946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27fd9b75604eb5" /><Relationship Type="http://schemas.openxmlformats.org/officeDocument/2006/relationships/notesMaster" Target="/ppt/notesMasters/notesMaster1.xml" Id="Rb1a1bb2295804b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a10301ca9c4cad" /><Relationship Type="http://schemas.openxmlformats.org/officeDocument/2006/relationships/notesMaster" Target="/ppt/notesMasters/notesMaster1.xml" Id="Rf90e2384a76f43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00d101986d432f" /><Relationship Type="http://schemas.openxmlformats.org/officeDocument/2006/relationships/notesMaster" Target="/ppt/notesMasters/notesMaster1.xml" Id="R9615c60fc2204c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4b6277e93e4885" /><Relationship Type="http://schemas.openxmlformats.org/officeDocument/2006/relationships/notesMaster" Target="/ppt/notesMasters/notesMaster1.xml" Id="R23562a5edd0b46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f23845b6064c26" /><Relationship Type="http://schemas.openxmlformats.org/officeDocument/2006/relationships/notesMaster" Target="/ppt/notesMasters/notesMaster1.xml" Id="R6e773e7f5ad442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8169de8d8c4606" /><Relationship Type="http://schemas.openxmlformats.org/officeDocument/2006/relationships/notesMaster" Target="/ppt/notesMasters/notesMaster1.xml" Id="Rd87c81199b6149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fcba4011004d28" /><Relationship Type="http://schemas.openxmlformats.org/officeDocument/2006/relationships/notesMaster" Target="/ppt/notesMasters/notesMaster1.xml" Id="R262f098ae93a423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72f55ee17e47b6" /><Relationship Type="http://schemas.openxmlformats.org/officeDocument/2006/relationships/notesMaster" Target="/ppt/notesMasters/notesMaster1.xml" Id="R054b68cd75e14ea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4a29756413485e" /><Relationship Type="http://schemas.openxmlformats.org/officeDocument/2006/relationships/notesMaster" Target="/ppt/notesMasters/notesMaster1.xml" Id="R485c1815d15d4d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d171e79db5a40e6" /><Relationship Type="http://schemas.openxmlformats.org/officeDocument/2006/relationships/notesMaster" Target="/ppt/notesMasters/notesMaster1.xml" Id="R33c0e3735793424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1afc2f8d34d4358" /><Relationship Type="http://schemas.openxmlformats.org/officeDocument/2006/relationships/notesMaster" Target="/ppt/notesMasters/notesMaster1.xml" Id="Rb03a6dbafe134af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fccb599b4844e5f" /><Relationship Type="http://schemas.openxmlformats.org/officeDocument/2006/relationships/notesMaster" Target="/ppt/notesMasters/notesMaster1.xml" Id="Rc695b75044a34c7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d112d7b6cdc4476" /><Relationship Type="http://schemas.openxmlformats.org/officeDocument/2006/relationships/notesMaster" Target="/ppt/notesMasters/notesMaster1.xml" Id="R7c86cf78bab045e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a87f53aa4ad433b" /><Relationship Type="http://schemas.openxmlformats.org/officeDocument/2006/relationships/notesMaster" Target="/ppt/notesMasters/notesMaster1.xml" Id="R6f31f31d3d6844e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7720bf1b14b4f51" /><Relationship Type="http://schemas.openxmlformats.org/officeDocument/2006/relationships/notesMaster" Target="/ppt/notesMasters/notesMaster1.xml" Id="Rca666a7bc6f34dd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6096c4c6fcf4a2f" /><Relationship Type="http://schemas.openxmlformats.org/officeDocument/2006/relationships/notesMaster" Target="/ppt/notesMasters/notesMaster1.xml" Id="Rb591c0e0a0834c1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83962bb99a8487c" /><Relationship Type="http://schemas.openxmlformats.org/officeDocument/2006/relationships/notesMaster" Target="/ppt/notesMasters/notesMaster1.xml" Id="R815816e9cc4540b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6bef2a830b04118" /><Relationship Type="http://schemas.openxmlformats.org/officeDocument/2006/relationships/notesMaster" Target="/ppt/notesMasters/notesMaster1.xml" Id="R677f562523864ef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0f289e14ac34815" /><Relationship Type="http://schemas.openxmlformats.org/officeDocument/2006/relationships/notesMaster" Target="/ppt/notesMasters/notesMaster1.xml" Id="Rf2a69257898948c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5921eeda85440d2" /><Relationship Type="http://schemas.openxmlformats.org/officeDocument/2006/relationships/notesMaster" Target="/ppt/notesMasters/notesMaster1.xml" Id="R4a98b361f2364d0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808623c18bc4f63" /><Relationship Type="http://schemas.openxmlformats.org/officeDocument/2006/relationships/notesMaster" Target="/ppt/notesMasters/notesMaster1.xml" Id="R4b06ce8326ad4df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3157280e06a4d77" /><Relationship Type="http://schemas.openxmlformats.org/officeDocument/2006/relationships/notesMaster" Target="/ppt/notesMasters/notesMaster1.xml" Id="R9fd447f924af42f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2242a8350104552" /><Relationship Type="http://schemas.openxmlformats.org/officeDocument/2006/relationships/notesMaster" Target="/ppt/notesMasters/notesMaster1.xml" Id="R05473b1b64da440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d069811cc9b47e5" /><Relationship Type="http://schemas.openxmlformats.org/officeDocument/2006/relationships/notesMaster" Target="/ppt/notesMasters/notesMaster1.xml" Id="Recc6122cd4734d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Kullanıcının sağladığı sınıf adı, gündem ve Kalem Vakfı Okulları logosu. Toplantı tarihi belirtilmemiştir.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Değerli velilerimiz, kıymetli misafirlerimiz, veli toplantımıza hoş geldiniz, safalar getirdiniz. Çocuklarımızın 8. sınıftaki akademik başarılarını ve ahlaki gelişimlerini birlikte desteklemek için bir aradayız.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Öğretmen kendini tanıtır. Velilerden ad, soyad ve meslek bilgileriyle kısa bir tanıtım rica edilir. Sağlanan metinlerde hem görüşme takvimine göre birebir görüşme hem de randevulu görüşme yer alıyor. Ortak esas: Genel toplantıda branş tanıtımları yapılır, öğrenciye özel konular ayrılmış bireysel görüşme zamanında ele alınır.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Velilerle paylaşılmak üzere sağlanan toplantı metni ve gündem.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Okulda üç tür anayasa vardır: okul, sınıf ve ders anayasası. Kuralların amacı eğitim ve öğretimin verimli, amacına uygun bir ortamda gerçekleşmesidir. Derslere özgü ayrıntıları branş öğretmenleri açıklar.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Velilerle paylaşılmak üzere sağlanan toplantı metni ve gündem.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Velilerle paylaşılmak üzere sağlanan toplantı metni ve gündem.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Kalem Vakfı Okulları eğitimi bir bütün olarak ele alır. Okuldaki eşyalara emanet bilinciyle yaklaşmak bu kültürün parçasıdır.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Velilerle paylaşılmak üzere sağlanan toplantı metni ve gündem.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Akıl Defteri öğrencinin günlük ajandasıdır. Günlük ve haftalık planlarını, ödevlerini ve sorumluluklarını kaydeder. Öğretmen kullanımını takip eder. Evde kısa ve düzenli kontrol önerilir.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Paylaşılan programa göre bir yılda ortalama altı konu ele alınır. Ahmet Yesevi-8 sınıfının hazırlayacağı konu Özbakım ve Özgüven olarak belirtilmiştir.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Velilerle paylaşılmak üzere sağlanan toplantı metni ve gündem.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Kullanıcı sınav adlarının açılımlarını ve kurumun soru türlerini vermemiştir. Aşağıdaki alanlar resmi okul bilgisiyle doldurulmalıdır. Çoktan seçmeli ve açık uçlu ifadeleri yalnızca genel soru türü örnekleridir.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Puan aralığı, başarı düzeyleri, soru sayıları, süreler ve varsa yanlış yanıtların etkisi kurumdan doğrulanmalıdır. Bu sunum herhangi bir puanlama sistemi varsaymaz.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Kullanıcının sağladığı 8. sınıflar yazılı takvimi görseli. Bakanlık ve il ortak sınavlarına ilişkin not kullanıcı tarafından verilmiştir. Tarihler ayrıca araştırılmamıştır.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Seyahatin tarihi, güzergâhı, ücreti ve katılım koşulları kullanıcı tarafından verilmemiştir. Bu slayt bilgilendirme alanı olarak hazırlanmıştır.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Velilerle paylaşılmak üzere sağlanan toplantı metni ve gündem.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Toplantının başında seçim gündemi duyurulur. Gönüllülerin düşünmesi için zaman verilir ve gündemin sonunda seçim tamamlanır.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Kullanıcının sağladığı ana-baba okulu açıklaması. Programın ayda bir kez kurucu eğitim danışmanı Doç. Dr. Osman Sezgin tarafından gerçekleştirildiği belirtilmiştir.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Velilerle paylaşılmak üzere sağlanan toplantı metni ve gündem.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 anayasası için öneriler: Aile üyelerinin birlikte belirlediği, öğrencinin yaşına uygun, açık ve takip edilebilir kurallar. Okulun resmî anayasasının aynısı olduğu iddia edilmez.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Kitap listesi, süre ve takip düzeni paylaşılmadığından bu slayt genel uygulama önerileri içerir.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Velilerle paylaşılmak üzere sağlanan toplantı metni ve gündem.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Kullanıcı anlaşmalı kurum adlarını ve avantajlarını paylaşmamıştır. Tablo, okulun güncel onaylı listesiyle doldurulmalıdır.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Velilerle paylaşılmak üzere sağlanan toplantı metni ve gündem.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Kullanıcının verdiği idari hatırlatma. Bu slayt veli sunumunun ardından öğretmen eki olarak tutulabilir. Herhangi bir teslim işlemi yapılmamıştır.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Kullanıcının paylaştığı özgün 8. sınıflar yazılı takvimi görseli.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207aeaf57b48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7d652890f94eba" /><Relationship Type="http://schemas.openxmlformats.org/officeDocument/2006/relationships/slideLayout" Target="/ppt/slideLayouts/slideLayout1.xml" Id="Rd17a6b5d723a44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7a6b5d723a44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c3852bbb946d0" /><Relationship Type="http://schemas.openxmlformats.org/officeDocument/2006/relationships/image" Target="/ppt/media/image.png" Id="R9bdecea5581944a2" /><Relationship Type="http://schemas.openxmlformats.org/officeDocument/2006/relationships/notesSlide" Target="/ppt/notesSlides/notesSlide1.xml" Id="R8428d0c83cd84c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1dac58de54930" /><Relationship Type="http://schemas.openxmlformats.org/officeDocument/2006/relationships/notesSlide" Target="/ppt/notesSlides/notesSlide2.xml" Id="Rd320a70dd89f43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a53719a2e4339" /><Relationship Type="http://schemas.openxmlformats.org/officeDocument/2006/relationships/notesSlide" Target="/ppt/notesSlides/notesSlide3.xml" Id="R9c58b422efec47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dc9f498fc4249" /><Relationship Type="http://schemas.openxmlformats.org/officeDocument/2006/relationships/notesSlide" Target="/ppt/notesSlides/notesSlide4.xml" Id="R50148157b6864e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ae3033f9c4939" /><Relationship Type="http://schemas.openxmlformats.org/officeDocument/2006/relationships/notesSlide" Target="/ppt/notesSlides/notesSlide5.xml" Id="R9e30f639b85c44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802f877b74854" /><Relationship Type="http://schemas.openxmlformats.org/officeDocument/2006/relationships/notesSlide" Target="/ppt/notesSlides/notesSlide6.xml" Id="Rc431e29ff1494a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1dc16c6e04e79" /><Relationship Type="http://schemas.openxmlformats.org/officeDocument/2006/relationships/notesSlide" Target="/ppt/notesSlides/notesSlide7.xml" Id="Rf53bba60e4ea4e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91c797f704223" /><Relationship Type="http://schemas.openxmlformats.org/officeDocument/2006/relationships/notesSlide" Target="/ppt/notesSlides/notesSlide8.xml" Id="R69fa451351c94c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2e112f8cf4236" /><Relationship Type="http://schemas.openxmlformats.org/officeDocument/2006/relationships/notesSlide" Target="/ppt/notesSlides/notesSlide9.xml" Id="Rf3903b01147b49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4e968365448a8" /><Relationship Type="http://schemas.openxmlformats.org/officeDocument/2006/relationships/notesSlide" Target="/ppt/notesSlides/notesSlide10.xml" Id="R8f1fb1d1fdd348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a59aa5a984c49" /><Relationship Type="http://schemas.openxmlformats.org/officeDocument/2006/relationships/notesSlide" Target="/ppt/notesSlides/notesSlide11.xml" Id="R2bb88074287243f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b909a27ce4c86" /><Relationship Type="http://schemas.openxmlformats.org/officeDocument/2006/relationships/notesSlide" Target="/ppt/notesSlides/notesSlide12.xml" Id="Rc1e73bedffaf413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62ed18c5941fe" /><Relationship Type="http://schemas.openxmlformats.org/officeDocument/2006/relationships/notesSlide" Target="/ppt/notesSlides/notesSlide13.xml" Id="R2edf216fe9df4d7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100e0f94b4237" /><Relationship Type="http://schemas.openxmlformats.org/officeDocument/2006/relationships/notesSlide" Target="/ppt/notesSlides/notesSlide14.xml" Id="R99dcf4f8468c492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83be372b14111" /><Relationship Type="http://schemas.openxmlformats.org/officeDocument/2006/relationships/notesSlide" Target="/ppt/notesSlides/notesSlide15.xml" Id="R1b34a7b274ba4da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ee8f4f6514818" /><Relationship Type="http://schemas.openxmlformats.org/officeDocument/2006/relationships/notesSlide" Target="/ppt/notesSlides/notesSlide16.xml" Id="R0ae7ac0029c4444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4f35a7a9c4598" /><Relationship Type="http://schemas.openxmlformats.org/officeDocument/2006/relationships/notesSlide" Target="/ppt/notesSlides/notesSlide17.xml" Id="R2589fc550855427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3a2d7c5db4491" /><Relationship Type="http://schemas.openxmlformats.org/officeDocument/2006/relationships/notesSlide" Target="/ppt/notesSlides/notesSlide18.xml" Id="R9596a3934ab442c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0c5101fbd45e3" /><Relationship Type="http://schemas.openxmlformats.org/officeDocument/2006/relationships/notesSlide" Target="/ppt/notesSlides/notesSlide19.xml" Id="R95c9c68adb454a3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93b9903cd4c46" /><Relationship Type="http://schemas.openxmlformats.org/officeDocument/2006/relationships/notesSlide" Target="/ppt/notesSlides/notesSlide20.xml" Id="R527f05058f2a4e7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844dcef8143de" /><Relationship Type="http://schemas.openxmlformats.org/officeDocument/2006/relationships/notesSlide" Target="/ppt/notesSlides/notesSlide21.xml" Id="R207da08b369d411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45f24d0e7401c" /><Relationship Type="http://schemas.openxmlformats.org/officeDocument/2006/relationships/notesSlide" Target="/ppt/notesSlides/notesSlide22.xml" Id="Rc3332b64683849d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9e6e1056d4018" /><Relationship Type="http://schemas.openxmlformats.org/officeDocument/2006/relationships/notesSlide" Target="/ppt/notesSlides/notesSlide23.xml" Id="R6677af46feba452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46db6972447d2" /><Relationship Type="http://schemas.openxmlformats.org/officeDocument/2006/relationships/notesSlide" Target="/ppt/notesSlides/notesSlide24.xml" Id="Rafdd212bfe19442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5db23f06d4c36" /><Relationship Type="http://schemas.openxmlformats.org/officeDocument/2006/relationships/notesSlide" Target="/ppt/notesSlides/notesSlide25.xml" Id="R81caa44922344f6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f79c0930e4d99" /><Relationship Type="http://schemas.openxmlformats.org/officeDocument/2006/relationships/notesSlide" Target="/ppt/notesSlides/notesSlide26.xml" Id="Rfd137be903c54ba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4831a06334bc6" /><Relationship Type="http://schemas.openxmlformats.org/officeDocument/2006/relationships/image" Target="/ppt/media/image2.png" Id="R1f72a3215d444298" /><Relationship Type="http://schemas.openxmlformats.org/officeDocument/2006/relationships/notesSlide" Target="/ppt/notesSlides/notesSlide27.xml" Id="R17cd0864217e4e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ecea5581944a2"/>
          <a:stretch xmlns:a="http://schemas.openxmlformats.org/drawingml/2006/main"/>
        </p:blipFill>
        <p:spPr>
          <a:xfrm xmlns:a="http://schemas.openxmlformats.org/drawingml/2006/main">
            <a:off x="7467600" y="1728721"/>
            <a:ext cx="3905250" cy="230518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05233-8CEA-45B6-971B-DDB398A3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Veli Toplantısı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8076E0-A688-4C62-8AB3-FC3DAEFA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638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D2D1E-FCBD-4BC0-92D9-51E7EB19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2026–2027 Eğitim Öğretim Yılı</a:t>
            </a:r>
          </a:p>
        </p:txBody>
      </p:sp>
    </p:spTree>
    <p:extLst>
      <p:ext uri="{BB962C8B-B14F-4D97-AF65-F5344CB8AC3E}">
        <p14:creationId xmlns:p14="http://schemas.microsoft.com/office/powerpoint/2010/main" val="16928764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B78352-885B-436D-8621-AA2DBAE3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Hoş geldiniz, safalar getirdiniz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4EB18-E403-463F-88E2-84E1F8F6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84A4B-6619-4B72-8CE2-9A6CF189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99B3D5-4888-422D-85B1-0CA819CD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Ahmet Yesevi-8 ailesi olarak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E6391-0C4D-45DA-9AAC-77C60B6C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38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Çocuklarımızın akademik başarısını ve ahlaki gelişimini birlikte desteklemek için bir aradayız.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35A46-4F45-4E86-B7D0-F0ECA55B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Tanışma: öğretmenimizin ve velilerimizin kısa tanıtımı</a:t>
            </a:r>
          </a:p>
        </p:txBody>
      </p:sp>
    </p:spTree>
    <p:extLst>
      <p:ext uri="{BB962C8B-B14F-4D97-AF65-F5344CB8AC3E}">
        <p14:creationId xmlns:p14="http://schemas.microsoft.com/office/powerpoint/2010/main" val="17620120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208E1F-B2C8-498C-A59F-DC3179E3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Toplantının işleyişi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3ADA2-9554-47E1-BF3B-675F074A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597E2B-9F4D-4F2E-B84B-CD33FDDA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F4599A-6519-4FBF-846E-78E2FB97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1F58F-F4AA-480A-B1F8-C0CC792A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6212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Kısa tanışmanın ardından sınıfın gündemi ve ortak hedefler ele alınır.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0460E-1EFF-483B-A519-19F65CC1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93BE9-045C-46D4-B7DA-25D6F12F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367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Branş öğretmenleri, ayrılan sürede derslerini ve kaynaklarını tanıtır.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4B84C6-8690-4B71-8DE8-99E4AAE5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8C78B-C337-49D2-850F-3BDC0AE8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0522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Her branş, dersin işlenişini ve ölçme değerlendirme düzenini açıklar.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528950-E20B-413A-9B39-C9B23219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B52B2B-4BD8-4880-A3A8-DFBCDBD8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7677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Öğrenciye özel konular, görüşme takvimi veya randevuyla ele alınır.</a:t>
            </a:r>
          </a:p>
        </p:txBody>
      </p:sp>
    </p:spTree>
    <p:extLst>
      <p:ext uri="{BB962C8B-B14F-4D97-AF65-F5344CB8AC3E}">
        <p14:creationId xmlns:p14="http://schemas.microsoft.com/office/powerpoint/2010/main" val="7195377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22BC6-2E13-4859-87AD-CAB6E90B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Toplantı gündemi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D056D9-1E48-424C-8191-0F6DF239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1006D-348A-4CED-8579-8548A02F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190ED-8509-460B-9592-C3C85D93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Eğitim ve günlük düzen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5083D1-DFA4-4535-A4AF-75615381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668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Katılım ve iş birliği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1D724-4533-44CB-AC03-F6460460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857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Okul, sınıf ve ders anayasaları</a:t>
            </a:r>
          </a:p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Akıl Defteri ve dersler</a:t>
            </a:r>
          </a:p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BDD–HDS–LDD sınavları</a:t>
            </a:r>
          </a:p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2–11 Kasım yazılı takvimi</a:t>
            </a:r>
          </a:p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Güzel okuma programı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0182C-618B-4426-A95D-CFC06B41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62200"/>
            <a:ext cx="4857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Bosna–Hersek seyahati</a:t>
            </a:r>
          </a:p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Sınıf annesinin seçimi</a:t>
            </a:r>
          </a:p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Ana-baba okulu</a:t>
            </a:r>
          </a:p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Ev anayasası ve okul–aile iş birliği</a:t>
            </a:r>
          </a:p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Anlaşmalı kurumlar</a:t>
            </a:r>
          </a:p>
        </p:txBody>
      </p:sp>
    </p:spTree>
    <p:extLst>
      <p:ext uri="{BB962C8B-B14F-4D97-AF65-F5344CB8AC3E}">
        <p14:creationId xmlns:p14="http://schemas.microsoft.com/office/powerpoint/2010/main" val="9688289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7E3F0D-EACC-4AC1-93A6-8D8A0C9A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Okul, sınıf ve ders anayasaları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50063-59EF-4550-9E2D-808C30A5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C37D86-A960-42E3-AF45-EBF1C036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F8609-B6AA-430A-8EFD-A47A7865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9C6C2-9FD5-452B-9882-F0B25001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6212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Okul anayasası, ortak yaşamın düzenini belirler.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084B1-D3EA-4AAC-A854-16D026E8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4C73A-DF18-4924-AA95-76D043FA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367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Sınıf anayasası, sınıftaki davranış ve sorumlulukları açıklar.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A91A8-D5AD-42E6-8308-61741C3A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26D78-BDE8-4A96-BF45-8C72AC67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0522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Ders anayasası, ilgili dersin çalışma düzenini belirler.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40D3FD-3D42-41E8-976B-CDCC8F35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Ortak amaç: Verimli ve saygılı bir eğitim ortamı</a:t>
            </a:r>
          </a:p>
        </p:txBody>
      </p:sp>
    </p:spTree>
    <p:extLst>
      <p:ext uri="{BB962C8B-B14F-4D97-AF65-F5344CB8AC3E}">
        <p14:creationId xmlns:p14="http://schemas.microsoft.com/office/powerpoint/2010/main" val="4307241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639E01-ED0B-4198-8613-FA9D0771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Okul anayasası: zaman hassasiyeti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28A22-1666-435F-95F1-0FF34C3F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5B3AE-E801-435D-BC55-D4E2D2C2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D5A92-2CF2-4F61-84A0-10EAB49C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E3BD1D-C2B6-4BC0-BCF5-804D3B6A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6212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Okula ve derslere zamanında gelmek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CFFAC-7513-4713-9144-06B7C531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F97198-2A96-4EBC-8701-B4F98D52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367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Yemekhaneye ve törenlere zamanında katılmak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3C0A4-69B5-4FCB-A577-C0B7761C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6D5DD5-0C32-4D37-BEF8-E25E4D3D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0522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Saygı duruşu ve İstiklal Marşı için zamanında hazır olmak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960955-EE7A-4340-8178-25310219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78CFC-09F8-4467-AED8-3B93DB59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7677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Ödevleri istenen şekilde ve belirlenen sürede tamamlamak</a:t>
            </a:r>
          </a:p>
        </p:txBody>
      </p:sp>
    </p:spTree>
    <p:extLst>
      <p:ext uri="{BB962C8B-B14F-4D97-AF65-F5344CB8AC3E}">
        <p14:creationId xmlns:p14="http://schemas.microsoft.com/office/powerpoint/2010/main" val="5432046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6A410-A1D8-4081-9516-13D12C44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Okul anayasası: kıyafet ve hazırlık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F53D9-AC45-4A3F-997C-9E601F12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203C0-1069-433A-963F-77B0835B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65354-92C3-443E-B609-9DA3A642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236BE-B613-45B7-BCA2-93901AD1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6212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Okula okul formasıyla gelmek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19E96-5B2E-465A-BE4E-60639957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75A34-E093-46AE-B9FB-1E9E5A67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367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Beden Eğitimi derslerinde okul eşofmanını kullanmak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A346DF-8156-455E-95DB-FC580FF9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63A86F-1F40-47BE-B33B-6664532A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0522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Cuma günleri Müslüman Türk gencine yakışır ölçülü kıyafetler giymek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B867A1-52B7-4FEF-8389-26CB2EB4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1CBAC1-6E33-4B49-9AAE-10F1BED4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7677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Ders araç ve gereçlerini eksiksiz getirmek</a:t>
            </a:r>
          </a:p>
        </p:txBody>
      </p:sp>
    </p:spTree>
    <p:extLst>
      <p:ext uri="{BB962C8B-B14F-4D97-AF65-F5344CB8AC3E}">
        <p14:creationId xmlns:p14="http://schemas.microsoft.com/office/powerpoint/2010/main" val="1658873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2095A-50AC-4683-9581-49C3E58F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Vakıf kültürü ve emanet bilinci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67540-915A-4582-BFA4-AF074194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6B8D8-789A-4BAD-B034-5C5416C9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D008E-E963-42F6-B47A-2B15FEB4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Okulumuzdaki her eşya bir emanettir.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2CF85-AA3F-458D-8451-CAC0FAA6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Sınıf ve okul eşyalarını özenle kullanmak, sonraki öğrencilerin de bu imkânlardan yararlanmasını sağlar.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C9EF1-04D5-4FAD-879A-20D994BA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Ortak sorumluluk: korumak, temiz tutmak ve özen göstermek</a:t>
            </a:r>
          </a:p>
        </p:txBody>
      </p:sp>
    </p:spTree>
    <p:extLst>
      <p:ext uri="{BB962C8B-B14F-4D97-AF65-F5344CB8AC3E}">
        <p14:creationId xmlns:p14="http://schemas.microsoft.com/office/powerpoint/2010/main" val="19543382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849BB7-80E2-43CA-AA33-392B48AC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Sınıf anayasamız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80F8B-1021-4724-B756-EEC1E248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D2CE7-64E7-4D5A-8BC7-130CCBB7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713BE0-83DC-428B-A828-6CF6AB44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CE733-867A-4242-B3ED-28F080AC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6212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Saygı ve dikkat: Öğretmeni ve arkadaşları dinlemek, söz alarak konuşmak.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682FC1-E46F-4E51-9FFB-7F4A6FE0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75937-DD21-4116-A60D-FE05F7EF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367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Sorumluluk ve düzen: Ders araçlarını özenle kullanmak, sınıfı temiz bırakmak.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887A41-F426-4800-AD7C-46E4E073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CAD64-6EBC-4C41-A95C-9C536B44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0522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İlime değer verme: Merakla öğrenmek, kurallara vicdanla uymak ve ciddiyetle çalışmak.</a:t>
            </a:r>
          </a:p>
        </p:txBody>
      </p:sp>
    </p:spTree>
    <p:extLst>
      <p:ext uri="{BB962C8B-B14F-4D97-AF65-F5344CB8AC3E}">
        <p14:creationId xmlns:p14="http://schemas.microsoft.com/office/powerpoint/2010/main" val="12379523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E0C816-620F-4D7D-ABB5-FA4CD850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Akıl Defteri: günlük planlama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7F823-CAD0-4F2F-B4BE-AD089074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A1819-84E4-4792-910B-3FEAE5F0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DC9E1-4CB7-43D4-A198-D76D7A1C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DACA7-7749-4029-A4E8-3819E175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6212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Günlük ve haftalık planlar, ödevler ve sorumluluklar kaydedilir.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3341D2-64B1-4A9C-A718-C36F18CD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DEBEE-78A2-4882-ABCD-38845E84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367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Öğrenci, yapacaklarını ve teslim tarihlerini bir arada görür.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F97E5-D529-43E8-B445-6F542FD7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CCFC08-F286-499A-80FA-DCE2DBC0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0522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Öğretmen, Akıl Defteri kullanımını takip eder.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D47552-DCC9-4082-A542-3F5D795B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9B5FBE-E30B-473D-AFCF-01E1BA76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7677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Veli, kısa kontrollerle öğrencinin planlama alışkanlığını destekler.</a:t>
            </a:r>
          </a:p>
        </p:txBody>
      </p:sp>
    </p:spTree>
    <p:extLst>
      <p:ext uri="{BB962C8B-B14F-4D97-AF65-F5344CB8AC3E}">
        <p14:creationId xmlns:p14="http://schemas.microsoft.com/office/powerpoint/2010/main" val="1459380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5EDDCE-0DC7-472E-A419-064C5CDF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İnsani erdemler ve ideal öğrenci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204FB-20D4-4B58-B3A7-12DC64FD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D3626-380E-4A2A-AD69-8D958F2D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0DDB9-3D88-4CAD-B80F-47974E1D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Sınıfımızın konusu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EFA59-C115-4600-A1C6-711C8BB1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Özbakım ve Özgüven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10BF7-DFBC-4EBD-8F0A-A8848A2B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İnsani erdemler ve ideal öğrenci çalışmaları kapsamında yıl boyunca ortalama 6 konu ele alınır.</a:t>
            </a:r>
          </a:p>
        </p:txBody>
      </p:sp>
    </p:spTree>
    <p:extLst>
      <p:ext uri="{BB962C8B-B14F-4D97-AF65-F5344CB8AC3E}">
        <p14:creationId xmlns:p14="http://schemas.microsoft.com/office/powerpoint/2010/main" val="14349555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F20D4-D704-4535-AAB3-45AA7AFF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Entelektüel gelişim dersleri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58C04-30F0-487B-882A-6F7D0F85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0CA9B-DA35-4398-A243-2DDC234E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6AB00-A2F1-4B4A-A45E-4C3B2AF4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Sanat ve ifade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734D4-9EE1-49A4-8BD7-00DE5C9F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668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Düşünme ve kültür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17120-ED7A-4959-8352-84ED96DE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857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Gelenekli Türk Sanatları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Türk Musikisi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Dolmakalem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69DDE-479D-4FC9-AB14-0A947C4F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62200"/>
            <a:ext cx="4857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Zekâ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Seyahat Kültürü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43D4A0-9678-4143-B432-A1E34E0E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Derslerin işlenişini ve kullanılan kaynakları branş öğretmenleri paylaşacaktır.</a:t>
            </a:r>
          </a:p>
        </p:txBody>
      </p:sp>
    </p:spTree>
    <p:extLst>
      <p:ext uri="{BB962C8B-B14F-4D97-AF65-F5344CB8AC3E}">
        <p14:creationId xmlns:p14="http://schemas.microsoft.com/office/powerpoint/2010/main" val="10155268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F1491-2C43-409B-BA11-81CFDBF3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BDD–HDS–LDD: soru türleri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070D20-69B2-4569-AA42-6E5EDD3E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221068-9466-4AE1-A0AC-78A0C01D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8629650"/>
              </a:tblGrid>
              <a:tr h="6429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Sınav</a:t>
                      </a:r>
                    </a:p>
                  </a:txBody>
                  <a:tcPr marL="91440" marR="91440" marT="45720" marB="45720">
                    <a:solidFill>
                      <a:srgbClr val="153B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Soru türü ve kapsamı</a:t>
                      </a:r>
                    </a:p>
                  </a:txBody>
                  <a:tcPr marL="91440" marR="91440" marT="45720" marB="45720">
                    <a:solidFill>
                      <a:srgbClr val="153B5A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BDD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Okulun açıklaması: 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HDS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Okulun açıklaması: …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LDD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Okulun açıklaması: 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90079-1AB6-4BCA-924C-66E45C71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Soru türü örnekleri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905E80-019E-4AD6-87F1-2E649F61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Çoktan seçmeli sorularda seçenekler arasından yanıt seçilir.</a:t>
            </a:r>
          </a:p>
          <a:p xmlns:a="http://schemas.openxmlformats.org/drawingml/2006/main">
            <a:pPr>
              <a:defRPr sz="1950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Açık uçlu sorularda yanıt, işlem veya gerekçe öğrenci tarafından yazılır.</a:t>
            </a:r>
          </a:p>
        </p:txBody>
      </p:sp>
    </p:spTree>
    <p:extLst>
      <p:ext uri="{BB962C8B-B14F-4D97-AF65-F5344CB8AC3E}">
        <p14:creationId xmlns:p14="http://schemas.microsoft.com/office/powerpoint/2010/main" val="21388649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3855C-6B8A-4E8E-B1F3-84284C42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BDD–HDS–LDD: ölçek ve sonuçlar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09566-234E-444F-9AD1-C8988F3A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4406A-593B-4A60-BFE9-826BEF1D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666875"/>
          <a:ext xmlns:a="http://schemas.openxmlformats.org/drawingml/2006/main" cx="108204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476750"/>
                <a:gridCol w="4629150"/>
              </a:tblGrid>
              <a:tr h="6786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Sınav</a:t>
                      </a:r>
                    </a:p>
                  </a:txBody>
                  <a:tcPr marL="91440" marR="91440" marT="45720" marB="45720">
                    <a:solidFill>
                      <a:srgbClr val="153B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Puan aralığı / ölçek</a:t>
                      </a:r>
                    </a:p>
                  </a:txBody>
                  <a:tcPr marL="91440" marR="91440" marT="45720" marB="45720">
                    <a:solidFill>
                      <a:srgbClr val="153B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Değerlendirme ölçütü</a:t>
                      </a:r>
                    </a:p>
                  </a:txBody>
                  <a:tcPr marL="91440" marR="91440" marT="45720" marB="45720">
                    <a:solidFill>
                      <a:srgbClr val="153B5A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BDD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Okulun açıklaması: 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Okulun açıklaması: 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HDS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Okulun açıklaması: …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Okulun açıklaması: …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LDD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Okulun açıklaması: 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Okulun açıklaması: 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AE0EFE-79F1-49D6-BB52-3858D1B1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Sonuç görüşmesinin odağı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B6FD0-266B-4BC6-A6D5-330BBE28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Kazanım eksikleri, öğrencinin önceki çalışmaları ve sonraki çalışma planı birlikte değerlendirilir.</a:t>
            </a:r>
          </a:p>
        </p:txBody>
      </p:sp>
    </p:spTree>
    <p:extLst>
      <p:ext uri="{BB962C8B-B14F-4D97-AF65-F5344CB8AC3E}">
        <p14:creationId xmlns:p14="http://schemas.microsoft.com/office/powerpoint/2010/main" val="370904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4528A-B325-4B9B-B162-43584228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Yazılı takvimi: 2–11 Kasım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8CB8F-E2EF-4502-9206-998F1237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5EDA8-B7EF-408E-8ED7-E960A453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476375"/>
          <a:ext xmlns:a="http://schemas.openxmlformats.org/drawingml/2006/main" cx="10820400" cy="3781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2667000"/>
                <a:gridCol w="5962650"/>
              </a:tblGrid>
              <a:tr h="42015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Tarih</a:t>
                      </a:r>
                    </a:p>
                  </a:txBody>
                  <a:tcPr marL="91440" marR="91440" marT="45720" marB="45720">
                    <a:solidFill>
                      <a:srgbClr val="153B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Gün</a:t>
                      </a:r>
                    </a:p>
                  </a:txBody>
                  <a:tcPr marL="91440" marR="91440" marT="45720" marB="45720">
                    <a:solidFill>
                      <a:srgbClr val="153B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Ders</a:t>
                      </a:r>
                    </a:p>
                  </a:txBody>
                  <a:tcPr marL="91440" marR="91440" marT="45720" marB="45720">
                    <a:solidFill>
                      <a:srgbClr val="153B5A"/>
                    </a:solidFill>
                  </a:tcPr>
                </a:tc>
              </a:tr>
              <a:tr h="42015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 Kasım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Pazartesi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Türkçe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015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 Kasım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Salı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Arapça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</a:tr>
              <a:tr h="42015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 Kasım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Çarşamba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Matematik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015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 Kasım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Perşembe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Fen Bilimleri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</a:tr>
              <a:tr h="42015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 Kasım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Din Kültürü ve Ahlak Bilgisi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015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 Kasım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Pazartesi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İngilizce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</a:tr>
              <a:tr h="42015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 Kasım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Salı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İnkılap Tarihi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015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 Kasım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Çarşamba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Osmanlı Türkçesi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1FDA39-5237-4559-AB4F-78F82A10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Bakanlık ortak sınav tarihleri açıklanmıştır. İl ortak sınavları açıklandığı takdirde yazılı günlerinde değişiklik olabilecektir.</a:t>
            </a:r>
          </a:p>
        </p:txBody>
      </p:sp>
    </p:spTree>
    <p:extLst>
      <p:ext uri="{BB962C8B-B14F-4D97-AF65-F5344CB8AC3E}">
        <p14:creationId xmlns:p14="http://schemas.microsoft.com/office/powerpoint/2010/main" val="8908732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F5510E-69B3-4564-A63C-51D40B75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Bosna–Hersek seyahati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E402F-CB8C-46A0-BCFF-A1C8E990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5CED5F-87E8-4650-8107-94BAD234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EEA751-7354-4309-B40A-BA931322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Program bilgileri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561E6-35C2-486B-8725-0CD4767A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668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Katılım bilgileri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94974-8522-4388-A8A3-9D06B29E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857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Tarih ve süre: 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Güzergâh ve ziyaretler: 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Ulaşım ve konaklama: 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15189-62E0-4B36-8212-1BF58B56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62200"/>
            <a:ext cx="4857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Ücret ve ödeme takvimi: 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Başvuru ve son tarih: 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Gerekli belgeler ve sorumlu kişi: 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63E495-42C0-487E-A932-9C42C2E0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Kesin program ve katılım koşulları okulun duyurusuyla netleşecektir.</a:t>
            </a:r>
          </a:p>
        </p:txBody>
      </p:sp>
    </p:spTree>
    <p:extLst>
      <p:ext uri="{BB962C8B-B14F-4D97-AF65-F5344CB8AC3E}">
        <p14:creationId xmlns:p14="http://schemas.microsoft.com/office/powerpoint/2010/main" val="11692236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83A426-5094-44DC-9269-C3689D84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Sınıf annesinin görevleri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5AD2E-7669-4587-9C5A-6865A205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80D65C-E2C2-417C-84D7-4EB11307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C30FA-273C-4579-9C8F-C89DE8D8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F5278F-B455-43F2-A31C-5179315A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6212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Sınıf öğretmenine, sınıf birliğini ve kurum kültürünü güçlendirmede destek olur.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CB3D2-4A87-41E3-B567-075839B6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FEA86-36E6-439E-94B6-A4AA92C9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367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Okul–aile birliğinde sınıfımızı temsil eder ve programları velilere duyurur.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B9E504-EBFE-427C-A85D-1D4CB57A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D940CB-E9F7-446F-9154-F42ED0E9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0522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Kardeş aile, veli çayı ve gezi gibi faaliyetlerin organizasyonunda yer alır.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0AAF87-5737-4D65-9B81-B9BD245F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96C170-1185-4C80-906C-20339801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7677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Velilerin eğitime katılımını ve öğrencilerin gelişimini destekler.</a:t>
            </a:r>
          </a:p>
        </p:txBody>
      </p:sp>
    </p:spTree>
    <p:extLst>
      <p:ext uri="{BB962C8B-B14F-4D97-AF65-F5344CB8AC3E}">
        <p14:creationId xmlns:p14="http://schemas.microsoft.com/office/powerpoint/2010/main" val="18009530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29D942-3089-4EB5-89DE-7D088190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Sınıf annesinin seçimi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86423-B635-4715-9DC9-8AE7090C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29756-182B-4ED7-A2AA-D569029E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E14D0-A2B6-4B80-B100-468C732F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B28E7-FE05-4C80-B504-DD6A12A3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6212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Görevi üstlenmek isteyen gönüllü veliler belirlenir.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F033A-0EA5-4DFD-862B-7CAA31F6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637E7-F1F5-44EB-AE56-7546430B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367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Adaylar ve görev paylaşımı hakkında velilerin görüşleri alınır.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62F1A7-4C77-4E15-B8B8-A51CDBCE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42E67-0039-463B-8A09-44B1B4E2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0522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Seçim sonucunda sınıf temsilcisi ve iletişim düzeni netleştirilir.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18510-49D9-4CFF-889B-1F291E44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Seçilen veli: 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4963025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5CB0A-726B-4418-896C-B109FD15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Ana-baba okulu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52667-1C1B-4B7F-A164-FCB6B8D2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F64CC-CAA8-41B2-885A-D238E90A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966F6-06CC-426B-AD86-7EB8134B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Ayda 1 buluşma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58834-0F91-48AA-9DA4-B31FBF0F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Doç. Dr. Osman Sezgin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B18BC2-5B36-426D-8BF1-12B14AEB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Kurucu eğitim danışmanımız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9C765-DBCE-43EF-BD8A-3435F443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57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Seminerler, okul ve ailelerin aynı dili konuşmasını ve ortak eğitim yaklaşımını güçlendirmeyi amaçlar.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3625E3-9B05-4AF6-9CFB-5AC45702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Oturum tarihi ve saati: okul duyurusu</a:t>
            </a:r>
          </a:p>
        </p:txBody>
      </p:sp>
    </p:spTree>
    <p:extLst>
      <p:ext uri="{BB962C8B-B14F-4D97-AF65-F5344CB8AC3E}">
        <p14:creationId xmlns:p14="http://schemas.microsoft.com/office/powerpoint/2010/main" val="88626330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6DE85-8D54-4DEB-B944-C1281238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Ana-baba okuluna birlikte katılım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6F061-3A17-40ED-90F7-B0D4E48D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4F1B4-E50A-4D1A-B76E-407D7BF7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8BEBB-EFD5-4FD2-AC5D-6FCAEFFC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Programın amaçları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639BEC-7A6E-4AB6-B46B-B58F1333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668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Ailelerin katılımı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92D79C-E314-4EBE-A8C1-A3E8829D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857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Kendini tanıma ve farkındalık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Evde huzurlu bir yuva ortamı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Anne–çocuk ve baba–çocuk iletişimi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28E93-AD70-40C2-A0FE-1D3B4B6D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62200"/>
            <a:ext cx="4857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Mümkün olduğunca hem annenin hem babanın katılımını önemsiyoruz.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Evde ortak bir yaklaşım, okulda yürütülen eğitimi destekler.</a:t>
            </a:r>
          </a:p>
        </p:txBody>
      </p:sp>
    </p:spTree>
    <p:extLst>
      <p:ext uri="{BB962C8B-B14F-4D97-AF65-F5344CB8AC3E}">
        <p14:creationId xmlns:p14="http://schemas.microsoft.com/office/powerpoint/2010/main" val="213478429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13A14D-39F7-4903-A1F7-E4410722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Ev anayasası ve ortak yaklaşım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06720-1853-4DB3-91EF-74EE1313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19B46-A9F4-4BB0-B902-90874279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13F1B-1BD8-4802-ADB1-E2CA542C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92460-2C55-468D-989C-8B5F3500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6212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Çalışma, okuma ve dinlenme zamanlarını birlikte belirlemek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C01F5-F8F9-4A28-BBBB-E092AC85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970A0-6B86-48A2-AD85-14ABBCD6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367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Ekran kullanımı ve ev sorumlulukları için açık kurallar koymak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920D6-C9D1-48F3-8AA0-78604403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03BCC4-E1AC-49A7-8893-EB8A7B10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0522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Evdeki beklentileri okulun eğitim yaklaşımıyla uyumlu tutmak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85A8D5-5063-4793-9FD4-B7688E15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BF84FA-E829-4176-BE40-4247A737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7677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Kuralları düzenli değerlendirmek ve öğrencinin sorumluluğunu desteklemek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51ECC-1CCA-4FD1-9FAC-342B9FDC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Ailece görüşülecek uygulama önerileri</a:t>
            </a:r>
          </a:p>
        </p:txBody>
      </p:sp>
    </p:spTree>
    <p:extLst>
      <p:ext uri="{BB962C8B-B14F-4D97-AF65-F5344CB8AC3E}">
        <p14:creationId xmlns:p14="http://schemas.microsoft.com/office/powerpoint/2010/main" val="10523023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7174A7-5503-4CA8-B77D-A0E13337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Okuma saati ve güzel okuma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5B2ED-4146-4A52-B712-B12410E6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3235B-F6A5-4EB4-95E8-D45E14EB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47BF5-F48A-4E25-A210-E3BC48B3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B0E7E-4C70-482B-AD5C-BD2DEA47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6212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Okuma saati, düzenli okuma alışkanlığını destekler.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A99C6-8068-405B-B189-CF004F97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F8066-BC74-4E3B-92AA-9C3CC0C9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367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Kitap seçimi öğrencinin düzeyine ve okulun programına uygun yapılır.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BB167-92EC-45EB-96B0-5178AE43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B3713-0DF5-4C26-BF5F-CE564B57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0522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Kısa sohbetlerle metnin anlamı ve öğrencinin yorumu konuşulur.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3C8D72-DB68-49A5-9F1F-B58BD44B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433B81-D725-4A52-A8D2-DC8AC9A5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7677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Okuma takibi, öğretmenin paylaşacağı program üzerinden yürütülür.</a:t>
            </a:r>
          </a:p>
        </p:txBody>
      </p:sp>
    </p:spTree>
    <p:extLst>
      <p:ext uri="{BB962C8B-B14F-4D97-AF65-F5344CB8AC3E}">
        <p14:creationId xmlns:p14="http://schemas.microsoft.com/office/powerpoint/2010/main" val="169424492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C3DBB-ED0A-4068-A635-D9672B78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Okul–aile iş birliği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5175C-7871-46FE-AFAF-F3BA2BFA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77003-DEA7-4560-A3A2-16717771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46002-AE67-4361-AFC9-F74A6CF7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69C0B-EF20-4DC7-BB0E-F528F27B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6212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Okul duyuruları düzenli takip edilir.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FD283-5907-4DC4-B7A6-9FBF77A4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B50EB-8D26-49C8-9C32-1BAD9660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367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Devamsızlık ve çalışmayı etkileyen durumlar zamanında paylaşılır.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52171-40E5-479F-BAA6-B5C510C6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A3554-9F22-4266-BB0B-E4339B6E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0522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Evde ve okulda ortak beklentiler için öğretmenle görüşülür.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74AA09-AE4E-46D6-B1DF-577A712B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BB9C56-CD30-45D5-81E1-4ECDED04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7677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Öğrencinin gelişimi, kişisel bilgileri korunarak değerlendirilir.</a:t>
            </a:r>
          </a:p>
        </p:txBody>
      </p:sp>
    </p:spTree>
    <p:extLst>
      <p:ext uri="{BB962C8B-B14F-4D97-AF65-F5344CB8AC3E}">
        <p14:creationId xmlns:p14="http://schemas.microsoft.com/office/powerpoint/2010/main" val="36428721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13CC8-FA53-411C-8665-33F1DFC9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Anlaşmalı kurumlar listesi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4AE0D4-E990-4B2A-A2EE-50847809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684F1-5063-4B2E-AAC0-3B6C74B2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4095750"/>
                <a:gridCol w="3581400"/>
              </a:tblGrid>
              <a:tr h="69056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Kurum</a:t>
                      </a:r>
                    </a:p>
                  </a:txBody>
                  <a:tcPr marL="91440" marR="91440" marT="45720" marB="45720">
                    <a:solidFill>
                      <a:srgbClr val="153B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Hizmet / avantaj</a:t>
                      </a:r>
                    </a:p>
                  </a:txBody>
                  <a:tcPr marL="91440" marR="91440" marT="45720" marB="45720">
                    <a:solidFill>
                      <a:srgbClr val="153B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Yararlanma koşulu</a:t>
                      </a:r>
                    </a:p>
                  </a:txBody>
                  <a:tcPr marL="91440" marR="91440" marT="45720" marB="45720">
                    <a:solidFill>
                      <a:srgbClr val="153B5A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…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…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…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118AA-1B1C-40F5-804D-59656151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Güncel liste ve geçerlilik bilgileri okul yönetiminin paylaşımıyla tamamlanacaktır.</a:t>
            </a:r>
          </a:p>
        </p:txBody>
      </p:sp>
    </p:spTree>
    <p:extLst>
      <p:ext uri="{BB962C8B-B14F-4D97-AF65-F5344CB8AC3E}">
        <p14:creationId xmlns:p14="http://schemas.microsoft.com/office/powerpoint/2010/main" val="99734414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770E1C-C151-43CA-8F4D-C4B6D110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Görüşler ve toplantı kararları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BA9D5-D910-4FD7-B046-F56D9365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622FC-2441-4ECE-94FE-4B49CE48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0AB069-0394-4767-9CB3-7DBF35C1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ABAA5-697A-416D-AFC2-5F063D7A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6212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Sınıf annesi ve görev kapsamının netleştirilmesi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8253BC-46F9-45C0-8395-5D41D299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5A694-2E17-494F-86A2-93223CBE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367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Okuma ve Akıl Defteri takibinde ortak uygulamanın belirlenmesi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D88CD-0BD5-485E-80F9-0A8D323C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AC53C-2DDA-46E0-830E-D579FB46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0522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Seyahat, sınavlar ve kurum listesi için eksik bilgilerin paylaşılması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9BCEE-B636-46F3-8340-843F4671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7A0CA8-FBC0-4DFB-AE7B-E4973A87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7677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Genel sorular ve bireysel görüşme randevularının planlanması</a:t>
            </a:r>
          </a:p>
        </p:txBody>
      </p:sp>
    </p:spTree>
    <p:extLst>
      <p:ext uri="{BB962C8B-B14F-4D97-AF65-F5344CB8AC3E}">
        <p14:creationId xmlns:p14="http://schemas.microsoft.com/office/powerpoint/2010/main" val="87173740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BE66A-A4F1-4D1B-931D-2327305A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Öğretmen için gündem teslim notu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BE8D1-B8BC-4067-A78F-489E3F17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47778-CC40-4576-9F19-9A0D97FA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E01EA2-ED4B-490E-9E43-FEDA171F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1 Ekim 2026 Perşembe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95BB4-8E5A-43DF-8837-27AD8E40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Her sınıf öğretmeni, kendi ek gündemlerini ilave ederek toplantı gündemini idareye teslim etmelidir.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4C249-A133-4A83-ABFD-6DB2753B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Sınıfa özgü ek gündemler: …</a:t>
            </a:r>
          </a:p>
        </p:txBody>
      </p:sp>
    </p:spTree>
    <p:extLst>
      <p:ext uri="{BB962C8B-B14F-4D97-AF65-F5344CB8AC3E}">
        <p14:creationId xmlns:p14="http://schemas.microsoft.com/office/powerpoint/2010/main" val="104719294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A6E8A-E1DF-4F0E-A751-1C22C44B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Ek: paylaşılan yazılı takvimi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3F5B2-365F-4830-92AB-05CC0579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8F947-8E69-4D81-9F4A-309C6924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2a3215d444298"/>
          <a:stretch xmlns:a="http://schemas.openxmlformats.org/drawingml/2006/main"/>
        </p:blipFill>
        <p:spPr>
          <a:xfrm xmlns:a="http://schemas.openxmlformats.org/drawingml/2006/main">
            <a:off x="4207260" y="1390650"/>
            <a:ext cx="3253605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4797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2026-10-02T11:40:48.8200000Z</dcterms:created>
  <dcterms:modified xsi:type="dcterms:W3CDTF">2026-10-02T11:40:48.8200000Z</dcterms:modified>
</coreProperties>
</file>